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3" d="100"/>
          <a:sy n="43" d="100"/>
        </p:scale>
        <p:origin x="1073" y="2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02920" cy="6784848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" y="2560320"/>
            <a:ext cx="4389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0000"/>
                </a:solidFill>
              </a:rPr>
              <a:t>WARP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105156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CA" sz="3800" b="1" i="0" dirty="0">
                <a:solidFill>
                  <a:srgbClr val="FFFFFF"/>
                </a:solidFill>
              </a:rPr>
              <a:t>JAX</a:t>
            </a:r>
            <a:r>
              <a:rPr sz="3800" b="1" i="0" dirty="0">
                <a:solidFill>
                  <a:srgbClr val="FFFFFF"/>
                </a:solidFill>
              </a:rPr>
              <a:t>Fluids </a:t>
            </a:r>
            <a:r>
              <a:rPr lang="en-CA" sz="3800" b="1" i="0" dirty="0">
                <a:solidFill>
                  <a:srgbClr val="FFFFFF"/>
                </a:solidFill>
              </a:rPr>
              <a:t>with </a:t>
            </a:r>
            <a:r>
              <a:rPr sz="3800" b="1" i="0" dirty="0">
                <a:solidFill>
                  <a:srgbClr val="FFFFFF"/>
                </a:solidFill>
              </a:rPr>
              <a:t>NVIDIA Warp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06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76B900"/>
                </a:solidFill>
              </a:rPr>
              <a:t>Phase 1  ·  1-D Compressible Euler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246120"/>
            <a:ext cx="9601200" cy="36576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33832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A0A0A0"/>
                </a:solidFill>
              </a:rPr>
              <a:t>Scheme:  WENO3 reconstruction  +  HLLC Riemann solver  +  SSP-RK2</a:t>
            </a:r>
          </a:p>
          <a:p>
            <a:r>
              <a:rPr sz="1600" b="0">
                <a:solidFill>
                  <a:srgbClr val="A0A0A0"/>
                </a:solidFill>
              </a:rPr>
              <a:t>Validated against exact Riemann solution  ·  4-backend V&amp;V</a:t>
            </a:r>
          </a:p>
          <a:p>
            <a:r>
              <a:rPr sz="1600" b="0">
                <a:solidFill>
                  <a:srgbClr val="A0A0A0"/>
                </a:solidFill>
              </a:rPr>
              <a:t>Benchmark:  JAX CPU  /  JAX CUDA  /  Warp CPU  /  Warp CUDA</a:t>
            </a:r>
          </a:p>
          <a:p>
            <a:r>
              <a:rPr sz="1600" b="1">
                <a:solidFill>
                  <a:srgbClr val="76B900"/>
                </a:solidFill>
              </a:rPr>
              <a:t>Result:  Warp CUDA  2.4 – 1.6×  faster than JAX CUDA (fused kernels)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2880" y="6693408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0A0"/>
                </a:solidFill>
              </a:rPr>
              <a:t>NVIDIA  ·  Warp  ·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693408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A0A0"/>
                </a:solidFill>
              </a:rPr>
              <a:t>warplabs-fluids  |  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355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A0"/>
                </a:solidFill>
              </a:rPr>
              <a:t>RTX 5000 Ada  ·  Warp 1.12.1  ·  JAX 0.6.2  ·  WSL2 Ubuntu 22.04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Strategy &amp;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49808"/>
            <a:ext cx="2377440" cy="25603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</a:rPr>
              <a:t>METHODOLOGY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93408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0A0"/>
                </a:solidFill>
              </a:rPr>
              <a:t>NVIDIA  ·  Warp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693408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A0A0"/>
                </a:solidFill>
              </a:rPr>
              <a:t>warplabs-fluids  |  Phase 1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78992"/>
            <a:ext cx="3566160" cy="52578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76B900"/>
                </a:solidFill>
              </a:rPr>
              <a:t>Why Warp?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27632"/>
            <a:ext cx="3246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</a:rPr>
              <a:t>• Python-first GPU kernels — no CUDA C required</a:t>
            </a:r>
          </a:p>
          <a:p>
            <a:endParaRPr sz="1400" b="0">
              <a:solidFill>
                <a:srgbClr val="FFFFFF"/>
              </a:solidFill>
            </a:endParaRPr>
          </a:p>
          <a:p>
            <a:r>
              <a:rPr sz="1400" b="0">
                <a:solidFill>
                  <a:srgbClr val="FFFFFF"/>
                </a:solidFill>
              </a:rPr>
              <a:t>• @wp.func inlines to registers; @wp.kernel marks global-memory boundaries</a:t>
            </a:r>
          </a:p>
          <a:p>
            <a:endParaRPr sz="1400" b="0">
              <a:solidFill>
                <a:srgbClr val="FFFFFF"/>
              </a:solidFill>
            </a:endParaRPr>
          </a:p>
          <a:p>
            <a:r>
              <a:rPr sz="1400" b="1">
                <a:solidFill>
                  <a:srgbClr val="76B900"/>
                </a:solidFill>
              </a:rPr>
              <a:t>• Kernel fusion collapses 6 launches → 2 per timestep</a:t>
            </a:r>
          </a:p>
          <a:p>
            <a:endParaRPr sz="1400" b="1">
              <a:solidFill>
                <a:srgbClr val="76B900"/>
              </a:solidFill>
            </a:endParaRPr>
          </a:p>
          <a:p>
            <a:r>
              <a:rPr sz="1400" b="0">
                <a:solidFill>
                  <a:srgbClr val="FFFFFF"/>
                </a:solidFill>
              </a:rPr>
              <a:t>• Memory pool (cudaMallocAsync) — O(1) allocs inside loops</a:t>
            </a:r>
          </a:p>
          <a:p>
            <a:endParaRPr sz="1400" b="0">
              <a:solidFill>
                <a:srgbClr val="FFFFFF"/>
              </a:solidFill>
            </a:endParaRPr>
          </a:p>
          <a:p>
            <a:r>
              <a:rPr sz="1400" b="0">
                <a:solidFill>
                  <a:srgbClr val="FFFFFF"/>
                </a:solidFill>
              </a:rPr>
              <a:t>• Targets production physics workloads at NVIDIA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078992"/>
            <a:ext cx="3840480" cy="52578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51960" y="117043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76B900"/>
                </a:solidFill>
              </a:rPr>
              <a:t>Numerical Scheme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1627632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0A0A0"/>
                </a:solidFill>
              </a:rPr>
              <a:t>Equations</a:t>
            </a:r>
          </a:p>
          <a:p>
            <a:r>
              <a:rPr sz="1300" b="0">
                <a:solidFill>
                  <a:srgbClr val="FFFFFF"/>
                </a:solidFill>
              </a:rPr>
              <a:t>1-D compressible Euler  [ρ, ρu, E]</a:t>
            </a:r>
          </a:p>
          <a:p>
            <a:endParaRPr sz="1300" b="0">
              <a:solidFill>
                <a:srgbClr val="FFFFFF"/>
              </a:solidFill>
            </a:endParaRPr>
          </a:p>
          <a:p>
            <a:r>
              <a:rPr sz="1300" b="1">
                <a:solidFill>
                  <a:srgbClr val="A0A0A0"/>
                </a:solidFill>
              </a:rPr>
              <a:t>Reconstruction</a:t>
            </a:r>
          </a:p>
          <a:p>
            <a:r>
              <a:rPr sz="1300" b="0">
                <a:solidFill>
                  <a:srgbClr val="FFFFFF"/>
                </a:solidFill>
              </a:rPr>
              <a:t>WENO3 on primitive variables (Jiang-Shu 1996)</a:t>
            </a:r>
          </a:p>
          <a:p>
            <a:endParaRPr sz="1300" b="0">
              <a:solidFill>
                <a:srgbClr val="FFFFFF"/>
              </a:solidFill>
            </a:endParaRPr>
          </a:p>
          <a:p>
            <a:r>
              <a:rPr sz="1300" b="1">
                <a:solidFill>
                  <a:srgbClr val="A0A0A0"/>
                </a:solidFill>
              </a:rPr>
              <a:t>Riemann solver</a:t>
            </a:r>
          </a:p>
          <a:p>
            <a:r>
              <a:rPr sz="1300" b="0">
                <a:solidFill>
                  <a:srgbClr val="FFFFFF"/>
                </a:solidFill>
              </a:rPr>
              <a:t>HLLC  (Toro 2009, Einfeldt wave speeds)</a:t>
            </a:r>
          </a:p>
          <a:p>
            <a:endParaRPr sz="1300" b="0">
              <a:solidFill>
                <a:srgbClr val="FFFFFF"/>
              </a:solidFill>
            </a:endParaRPr>
          </a:p>
          <a:p>
            <a:r>
              <a:rPr sz="1300" b="1">
                <a:solidFill>
                  <a:srgbClr val="A0A0A0"/>
                </a:solidFill>
              </a:rPr>
              <a:t>Time integration</a:t>
            </a:r>
          </a:p>
          <a:p>
            <a:r>
              <a:rPr sz="1300" b="0">
                <a:solidFill>
                  <a:srgbClr val="FFFFFF"/>
                </a:solidFill>
              </a:rPr>
              <a:t>SSP-RK2  (2 stages, CFL=0.4)</a:t>
            </a:r>
          </a:p>
          <a:p>
            <a:endParaRPr sz="1300" b="0">
              <a:solidFill>
                <a:srgbClr val="FFFFFF"/>
              </a:solidFill>
            </a:endParaRPr>
          </a:p>
          <a:p>
            <a:r>
              <a:rPr sz="1300" b="1">
                <a:solidFill>
                  <a:srgbClr val="A0A0A0"/>
                </a:solidFill>
              </a:rPr>
              <a:t>Ghost cells</a:t>
            </a:r>
          </a:p>
          <a:p>
            <a:r>
              <a:rPr sz="1300" b="0">
                <a:solidFill>
                  <a:srgbClr val="FFFFFF"/>
                </a:solidFill>
              </a:rPr>
              <a:t>ng=2 embedded in state array</a:t>
            </a:r>
          </a:p>
          <a:p>
            <a:endParaRPr sz="1300" b="0">
              <a:solidFill>
                <a:srgbClr val="FFFFFF"/>
              </a:solidFill>
            </a:endParaRPr>
          </a:p>
          <a:p>
            <a:r>
              <a:rPr sz="1300" b="1">
                <a:solidFill>
                  <a:srgbClr val="A0A0A0"/>
                </a:solidFill>
              </a:rPr>
              <a:t>Precision</a:t>
            </a:r>
          </a:p>
          <a:p>
            <a:r>
              <a:rPr sz="1300" b="0">
                <a:solidFill>
                  <a:srgbClr val="FFFFFF"/>
                </a:solidFill>
              </a:rPr>
              <a:t>float32  (matches JAX default)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078992"/>
            <a:ext cx="3749039" cy="52578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17043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76B900"/>
                </a:solidFill>
              </a:rPr>
              <a:t>Kernel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627632"/>
            <a:ext cx="3429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76B900"/>
                </a:solidFill>
              </a:rPr>
              <a:t>Fused kernel (current)</a:t>
            </a:r>
          </a:p>
          <a:p>
            <a:endParaRPr sz="1300" b="1">
              <a:solidFill>
                <a:srgbClr val="76B900"/>
              </a:solidFill>
            </a:endParaRPr>
          </a:p>
          <a:p>
            <a:r>
              <a:rPr sz="1300" b="0">
                <a:solidFill>
                  <a:srgbClr val="FFFFFF"/>
                </a:solidFill>
              </a:rPr>
              <a:t>1 launch per RK stage  →  2 / step</a:t>
            </a:r>
          </a:p>
          <a:p>
            <a:endParaRPr sz="1300" b="0">
              <a:solidFill>
                <a:srgbClr val="FFFFFF"/>
              </a:solidFill>
            </a:endParaRPr>
          </a:p>
          <a:p>
            <a:r>
              <a:rPr sz="1200" b="0">
                <a:solidFill>
                  <a:srgbClr val="A0A0A0"/>
                </a:solidFill>
              </a:rPr>
              <a:t>Thread i computes both interface</a:t>
            </a:r>
          </a:p>
          <a:p>
            <a:r>
              <a:rPr sz="1200" b="0">
                <a:solidFill>
                  <a:srgbClr val="A0A0A0"/>
                </a:solidFill>
              </a:rPr>
              <a:t>fluxes in registers (5-cell stencil):</a:t>
            </a:r>
          </a:p>
          <a:p>
            <a:endParaRPr sz="1200" b="0">
              <a:solidFill>
                <a:srgbClr val="A0A0A0"/>
              </a:solidFill>
            </a:endParaRPr>
          </a:p>
          <a:p>
            <a:r>
              <a:rPr sz="1200" b="0">
                <a:solidFill>
                  <a:srgbClr val="FFFFFF"/>
                </a:solidFill>
              </a:rPr>
              <a:t>  F_left  = WENO3+HLLC(i-2..i+1)</a:t>
            </a:r>
          </a:p>
          <a:p>
            <a:r>
              <a:rPr sz="1200" b="0">
                <a:solidFill>
                  <a:srgbClr val="FFFFFF"/>
                </a:solidFill>
              </a:rPr>
              <a:t>  F_right = WENO3+HLLC(i-1..i+2)</a:t>
            </a:r>
          </a:p>
          <a:p>
            <a:endParaRPr sz="1200" b="0">
              <a:solidFill>
                <a:srgbClr val="FFFFFF"/>
              </a:solidFill>
            </a:endParaRPr>
          </a:p>
          <a:p>
            <a:r>
              <a:rPr sz="1200" b="0">
                <a:solidFill>
                  <a:srgbClr val="A0A0A0"/>
                </a:solidFill>
              </a:rPr>
              <a:t>No global flux array allocated.</a:t>
            </a:r>
          </a:p>
          <a:p>
            <a:r>
              <a:rPr sz="1200" b="0">
                <a:solidFill>
                  <a:srgbClr val="A0A0A0"/>
                </a:solidFill>
              </a:rPr>
              <a:t>BC handled inline (clamp / modulo).</a:t>
            </a:r>
          </a:p>
          <a:p>
            <a:endParaRPr sz="1200" b="0">
              <a:solidFill>
                <a:srgbClr val="A0A0A0"/>
              </a:solidFill>
            </a:endParaRPr>
          </a:p>
          <a:p>
            <a:r>
              <a:rPr sz="1200" b="1">
                <a:solidFill>
                  <a:srgbClr val="A0A0A0"/>
                </a:solidFill>
              </a:rPr>
              <a:t>Unfused baseline:  6 launches / step</a:t>
            </a:r>
          </a:p>
          <a:p>
            <a:r>
              <a:rPr sz="1200" b="0">
                <a:solidFill>
                  <a:srgbClr val="A0A0A0"/>
                </a:solidFill>
              </a:rPr>
              <a:t>  bc  +  flux  +  update  ×  2 stages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Correctness  ·  Sod Shock Tube V&amp;V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49808"/>
            <a:ext cx="2926080" cy="25603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</a:rPr>
              <a:t>EXACT RIEMANN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93408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0A0"/>
                </a:solidFill>
              </a:rPr>
              <a:t>NVIDIA  ·  Warp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693408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A0A0"/>
                </a:solidFill>
              </a:rPr>
              <a:t>warplabs-fluids  |  Phase 1</a:t>
            </a:r>
          </a:p>
        </p:txBody>
      </p:sp>
      <p:pic>
        <p:nvPicPr>
          <p:cNvPr id="9" name="Picture 8" descr="sod_pro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8138160" cy="24940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41080" y="1051560"/>
            <a:ext cx="3246120" cy="52578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23960" y="1143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6B900"/>
                </a:solidFill>
              </a:rPr>
              <a:t>What is Sod?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15544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FFFFF"/>
                </a:solidFill>
              </a:rPr>
              <a:t>Membrane at x=0.5 bursts at t=0.</a:t>
            </a:r>
          </a:p>
          <a:p>
            <a:r>
              <a:rPr sz="1200" b="0">
                <a:solidFill>
                  <a:srgbClr val="FFFFFF"/>
                </a:solidFill>
              </a:rPr>
              <a:t>Three waves emerge:</a:t>
            </a:r>
          </a:p>
          <a:p>
            <a:r>
              <a:rPr sz="1200" b="0">
                <a:solidFill>
                  <a:srgbClr val="A0A0A0"/>
                </a:solidFill>
              </a:rPr>
              <a:t>  ← rarefaction fan</a:t>
            </a:r>
          </a:p>
          <a:p>
            <a:r>
              <a:rPr sz="1200" b="0">
                <a:solidFill>
                  <a:srgbClr val="A0A0A0"/>
                </a:solidFill>
              </a:rPr>
              <a:t>  → contact discontinuity</a:t>
            </a:r>
          </a:p>
          <a:p>
            <a:r>
              <a:rPr sz="1200" b="0">
                <a:solidFill>
                  <a:srgbClr val="A0A0A0"/>
                </a:solidFill>
              </a:rPr>
              <a:t>  → shock wave</a:t>
            </a:r>
          </a:p>
          <a:p>
            <a:r>
              <a:rPr sz="1200" b="0">
                <a:solidFill>
                  <a:srgbClr val="A0A0A0"/>
                </a:solidFill>
              </a:rPr>
              <a:t>Exact Riemann solution available</a:t>
            </a:r>
          </a:p>
          <a:p>
            <a:r>
              <a:rPr sz="1200" b="0">
                <a:solidFill>
                  <a:srgbClr val="A0A0A0"/>
                </a:solidFill>
              </a:rPr>
              <a:t>(Toro 2009) — ideal for V&amp;V.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3429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6B900"/>
                </a:solidFill>
              </a:rPr>
              <a:t>L1 errors  (N=512, t=0.2)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23960" y="3794760"/>
            <a:ext cx="2926080" cy="329184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0536" y="3831336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6B900"/>
                </a:solidFill>
              </a:rP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83496" y="3831336"/>
            <a:ext cx="649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6B900"/>
                </a:solidFill>
              </a:rPr>
              <a:t>L1(ρ)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51007" y="3831336"/>
            <a:ext cx="649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6B900"/>
                </a:solidFill>
              </a:rPr>
              <a:t>L1(u)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19" y="3831336"/>
            <a:ext cx="649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6B900"/>
                </a:solidFill>
              </a:rPr>
              <a:t>L1(p)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23960" y="4142232"/>
            <a:ext cx="2926080" cy="329184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0536" y="4178808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JAX CPU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83496" y="4178808"/>
            <a:ext cx="649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</a:rPr>
              <a:t>1.73e-3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51007" y="4178808"/>
            <a:ext cx="649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</a:rPr>
              <a:t>3.19e-3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8519" y="4178808"/>
            <a:ext cx="649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</a:rPr>
              <a:t>1.18e-3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23960" y="4489704"/>
            <a:ext cx="2926080" cy="329184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60536" y="4526280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JAX CUDA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83496" y="4526280"/>
            <a:ext cx="649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</a:rPr>
              <a:t>1.73e-3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51007" y="4526280"/>
            <a:ext cx="649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</a:rPr>
              <a:t>3.19e-3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19" y="4526280"/>
            <a:ext cx="649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</a:rPr>
              <a:t>1.18e-3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23960" y="4837176"/>
            <a:ext cx="2926080" cy="329184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60536" y="4873752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Warp CPU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83496" y="4873752"/>
            <a:ext cx="649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</a:rPr>
              <a:t>1.73e-3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51007" y="4873752"/>
            <a:ext cx="649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</a:rPr>
              <a:t>3.19e-3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18519" y="4873752"/>
            <a:ext cx="649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</a:rPr>
              <a:t>1.18e-3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23960" y="5184648"/>
            <a:ext cx="2926080" cy="329184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860536" y="5221224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Warp CUDA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83496" y="5221224"/>
            <a:ext cx="649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</a:rPr>
              <a:t>1.73e-3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51007" y="5221224"/>
            <a:ext cx="649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</a:rPr>
              <a:t>3.19e-3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18519" y="5221224"/>
            <a:ext cx="649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</a:rPr>
              <a:t>1.18e-3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23960" y="55961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6B900"/>
                </a:solidFill>
              </a:rPr>
              <a:t>All four backends produce identical results.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FA75C6C9-16DE-5E2A-7CC2-6D246AEA5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744026"/>
            <a:ext cx="8092440" cy="2614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Performance  ·  Throughput Scaling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49808"/>
            <a:ext cx="2377440" cy="25603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</a:rPr>
              <a:t>GPU THROUGHPUT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93408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0A0"/>
                </a:solidFill>
              </a:rPr>
              <a:t>NVIDIA  ·  Warp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693408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A0A0"/>
                </a:solidFill>
              </a:rPr>
              <a:t>warplabs-fluids  |  Phase 1</a:t>
            </a:r>
          </a:p>
        </p:txBody>
      </p:sp>
      <p:pic>
        <p:nvPicPr>
          <p:cNvPr id="9" name="Picture 8" descr="plot_through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8138160" cy="543563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41080" y="1051560"/>
            <a:ext cx="3246120" cy="52578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23960" y="1143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6B900"/>
                </a:solidFill>
              </a:rPr>
              <a:t>Key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1572768"/>
            <a:ext cx="2926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Warp CUDA  vs  JAX CUDA</a:t>
            </a:r>
          </a:p>
          <a:p>
            <a:r>
              <a:rPr sz="1200" b="0">
                <a:solidFill>
                  <a:srgbClr val="76B900"/>
                </a:solidFill>
              </a:rPr>
              <a:t>482 vs 298 Mcell/s at 131K cells</a:t>
            </a:r>
          </a:p>
          <a:p>
            <a:r>
              <a:rPr sz="1300" b="1">
                <a:solidFill>
                  <a:srgbClr val="76B900"/>
                </a:solidFill>
              </a:rPr>
              <a:t>→  1.62× faster</a:t>
            </a:r>
          </a:p>
          <a:p>
            <a:endParaRPr sz="1300" b="1">
              <a:solidFill>
                <a:srgbClr val="76B900"/>
              </a:solidFill>
            </a:endParaRPr>
          </a:p>
          <a:p>
            <a:r>
              <a:rPr sz="1300" b="1">
                <a:solidFill>
                  <a:srgbClr val="FFFFFF"/>
                </a:solidFill>
              </a:rPr>
              <a:t>Kernel fusion impact</a:t>
            </a:r>
          </a:p>
          <a:p>
            <a:r>
              <a:rPr sz="1200" b="0">
                <a:solidFill>
                  <a:srgbClr val="A0A0A0"/>
                </a:solidFill>
              </a:rPr>
              <a:t>6 launches/step → 2/step</a:t>
            </a:r>
          </a:p>
          <a:p>
            <a:r>
              <a:rPr sz="1200" b="0">
                <a:solidFill>
                  <a:srgbClr val="76B900"/>
                </a:solidFill>
              </a:rPr>
              <a:t>~3× speedup on Warp CUDA</a:t>
            </a:r>
          </a:p>
          <a:p>
            <a:endParaRPr sz="1200" b="0">
              <a:solidFill>
                <a:srgbClr val="76B900"/>
              </a:solidFill>
            </a:endParaRPr>
          </a:p>
          <a:p>
            <a:r>
              <a:rPr sz="1300" b="1">
                <a:solidFill>
                  <a:srgbClr val="FFFFFF"/>
                </a:solidFill>
              </a:rPr>
              <a:t>GPU crossover vs CPU</a:t>
            </a:r>
          </a:p>
          <a:p>
            <a:r>
              <a:rPr sz="1200" b="0">
                <a:solidFill>
                  <a:srgbClr val="A0A0A0"/>
                </a:solidFill>
              </a:rPr>
              <a:t>Warp CUDA &gt; JAX CPU at N~2K</a:t>
            </a:r>
          </a:p>
          <a:p>
            <a:r>
              <a:rPr sz="1200" b="0">
                <a:solidFill>
                  <a:srgbClr val="A0A0A0"/>
                </a:solidFill>
              </a:rPr>
              <a:t>Warp CUDA &gt; JAX CUDA at N~2K</a:t>
            </a:r>
          </a:p>
          <a:p>
            <a:endParaRPr sz="1200" b="0">
              <a:solidFill>
                <a:srgbClr val="A0A0A0"/>
              </a:solidFill>
            </a:endParaRPr>
          </a:p>
          <a:p>
            <a:r>
              <a:rPr sz="1300" b="1">
                <a:solidFill>
                  <a:srgbClr val="FFFFFF"/>
                </a:solidFill>
              </a:rPr>
              <a:t>Both GPUs still scaling</a:t>
            </a:r>
          </a:p>
          <a:p>
            <a:r>
              <a:rPr sz="1200" b="0">
                <a:solidFill>
                  <a:srgbClr val="A0A0A0"/>
                </a:solidFill>
              </a:rPr>
              <a:t>at 131K cells — not yet</a:t>
            </a:r>
          </a:p>
          <a:p>
            <a:r>
              <a:rPr sz="1200" b="0">
                <a:solidFill>
                  <a:srgbClr val="A0A0A0"/>
                </a:solidFill>
              </a:rPr>
              <a:t>bandwidth-limited</a:t>
            </a:r>
          </a:p>
          <a:p>
            <a:endParaRPr sz="1200" b="0">
              <a:solidFill>
                <a:srgbClr val="A0A0A0"/>
              </a:solidFill>
            </a:endParaRPr>
          </a:p>
          <a:p>
            <a:r>
              <a:rPr sz="1300" b="1">
                <a:solidFill>
                  <a:srgbClr val="FFFFFF"/>
                </a:solidFill>
              </a:rPr>
              <a:t>CPU backends flat</a:t>
            </a:r>
          </a:p>
          <a:p>
            <a:r>
              <a:rPr sz="1200" b="0">
                <a:solidFill>
                  <a:srgbClr val="A0A0A0"/>
                </a:solidFill>
              </a:rPr>
              <a:t>Warp: single-threaded LLVM</a:t>
            </a:r>
          </a:p>
          <a:p>
            <a:r>
              <a:rPr sz="1200" b="0">
                <a:solidFill>
                  <a:srgbClr val="A0A0A0"/>
                </a:solidFill>
              </a:rPr>
              <a:t>JAX: saturates ~30 Mcell/s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Memory Footprint  · 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49808"/>
            <a:ext cx="2743200" cy="25603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" y="768096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</a:rPr>
              <a:t>MEMORY + 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93408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0A0"/>
                </a:solidFill>
              </a:rPr>
              <a:t>NVIDIA  ·  Warp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693408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A0A0"/>
                </a:solidFill>
              </a:rPr>
              <a:t>warplabs-fluids  |  Phase 1</a:t>
            </a:r>
          </a:p>
        </p:txBody>
      </p:sp>
      <p:pic>
        <p:nvPicPr>
          <p:cNvPr id="9" name="Picture 8" descr="plot_mem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6675120" cy="446179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178040" y="1051560"/>
            <a:ext cx="1965960" cy="26060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0" y="114300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6B900"/>
                </a:solidFill>
              </a:rPr>
              <a:t>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508760"/>
            <a:ext cx="17373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Warp: 32 MiB flat</a:t>
            </a:r>
          </a:p>
          <a:p>
            <a:r>
              <a:rPr sz="1100" b="0">
                <a:solidFill>
                  <a:srgbClr val="A0A0A0"/>
                </a:solidFill>
              </a:rPr>
              <a:t>cudaMallocAsync pool —</a:t>
            </a:r>
          </a:p>
          <a:p>
            <a:r>
              <a:rPr sz="1100" b="0">
                <a:solidFill>
                  <a:srgbClr val="A0A0A0"/>
                </a:solidFill>
              </a:rPr>
              <a:t>pre-allocated once,</a:t>
            </a:r>
          </a:p>
          <a:p>
            <a:r>
              <a:rPr sz="1100" b="0">
                <a:solidFill>
                  <a:srgbClr val="A0A0A0"/>
                </a:solidFill>
              </a:rPr>
              <a:t>O(1) reuse.</a:t>
            </a:r>
          </a:p>
          <a:p>
            <a:endParaRPr sz="1100" b="0">
              <a:solidFill>
                <a:srgbClr val="A0A0A0"/>
              </a:solidFill>
            </a:endParaRPr>
          </a:p>
          <a:p>
            <a:r>
              <a:rPr sz="1200" b="1">
                <a:solidFill>
                  <a:srgbClr val="FFFFFF"/>
                </a:solidFill>
              </a:rPr>
              <a:t>JAX: grows linearly</a:t>
            </a:r>
          </a:p>
          <a:p>
            <a:r>
              <a:rPr sz="1100" b="0">
                <a:solidFill>
                  <a:srgbClr val="A0A0A0"/>
                </a:solidFill>
              </a:rPr>
              <a:t>Matches theoretical min.</a:t>
            </a:r>
          </a:p>
          <a:p>
            <a:r>
              <a:rPr sz="1100" b="0">
                <a:solidFill>
                  <a:srgbClr val="A0A0A0"/>
                </a:solidFill>
              </a:rPr>
              <a:t>(with PREALLOCATE=false)</a:t>
            </a:r>
          </a:p>
          <a:p>
            <a:endParaRPr sz="1100" b="0">
              <a:solidFill>
                <a:srgbClr val="A0A0A0"/>
              </a:solidFill>
            </a:endParaRPr>
          </a:p>
          <a:p>
            <a:r>
              <a:rPr sz="1100" b="0">
                <a:solidFill>
                  <a:srgbClr val="76B900"/>
                </a:solidFill>
              </a:rPr>
              <a:t>Crossover ~3M cells.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78040" y="3749039"/>
            <a:ext cx="4709160" cy="25603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60920" y="38404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6B900"/>
                </a:solidFill>
              </a:rPr>
              <a:t>Roadmap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4279392"/>
            <a:ext cx="292608" cy="292608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0" y="427939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427939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6B900"/>
                </a:solidFill>
              </a:rPr>
              <a:t>Phase 1  COMPLETE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455371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</a:rPr>
              <a:t>1-D Euler  ·  WENO3-HLLC-RK2  ·  float32
Kernel fusion  ·  4-backend V&amp;V  ·  scaling benchmarks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4937759"/>
            <a:ext cx="292608" cy="292608"/>
          </a:xfrm>
          <a:prstGeom prst="rect">
            <a:avLst/>
          </a:prstGeom>
          <a:solidFill>
            <a:srgbClr val="2A2A2A"/>
          </a:solidFill>
          <a:ln w="127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0" y="4937759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6B900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4937759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Phase 2  NEXT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5212079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</a:rPr>
              <a:t>2-D Euler  ·  Strang dimensional splitting
Kelvin-Helmholtz V&amp;V  ·  2-D N-scaling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5596127"/>
            <a:ext cx="292608" cy="292608"/>
          </a:xfrm>
          <a:prstGeom prst="rect">
            <a:avLst/>
          </a:prstGeom>
          <a:solidFill>
            <a:srgbClr val="2A2A2A"/>
          </a:solidFill>
          <a:ln w="127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0" y="5596127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6B900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5596127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A0A0"/>
                </a:solidFill>
              </a:rPr>
              <a:t>Phase 3  PLANNED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5870447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</a:rPr>
              <a:t>3-D compressible Navier-Stokes
Taylor-Green vortex V&amp;V  ·  full turbulence benchmark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63093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6B900"/>
                </a:solidFill>
              </a:rPr>
              <a:t>Phase 3 target: 3-D turbulence at GPU scale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641</Words>
  <Application>Microsoft Office PowerPoint</Application>
  <PresentationFormat>Widescreen</PresentationFormat>
  <Paragraphs>142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Mohammad Mohajerani</cp:lastModifiedBy>
  <cp:revision>2</cp:revision>
  <dcterms:created xsi:type="dcterms:W3CDTF">2013-01-27T09:14:16Z</dcterms:created>
  <dcterms:modified xsi:type="dcterms:W3CDTF">2026-05-04T03:35:10Z</dcterms:modified>
  <cp:category/>
</cp:coreProperties>
</file>